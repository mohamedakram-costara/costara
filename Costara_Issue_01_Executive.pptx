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THE HIDDEN COST OF</a:t>
            </a:r>
            <a:br/>
            <a:r>
              <a:t>CATERING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889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AA430"/>
                </a:solidFill>
                <a:latin typeface="Aptos"/>
              </a:rPr>
              <a:t>Food cost does not end at the kitchen door.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310128"/>
            <a:ext cx="6126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AD3"/>
                </a:solidFill>
                <a:latin typeface="Aptos"/>
              </a:rPr>
              <a:t>Route design, vehicle utilization, loading, manpower, temperature control and delivery discipline can all change the true cost of the meal.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325880"/>
            <a:ext cx="4160520" cy="41605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9FA"/>
                </a:solidFill>
                <a:latin typeface="Aptos"/>
              </a:rPr>
              <a:t>KITCHEN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1762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AA430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6974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A430"/>
                </a:solidFill>
                <a:latin typeface="Aptos"/>
              </a:rPr>
              <a:t>LOAD • ROUTE • DELIVER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1821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AA430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7033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9FA"/>
                </a:solidFill>
                <a:latin typeface="Aptos"/>
              </a:rPr>
              <a:t>CUSTOMER /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7083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ECAD3"/>
                </a:solidFill>
                <a:latin typeface="Aptos"/>
              </a:rPr>
              <a:t>Every hand-off creates a cost-control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ECAD3"/>
                </a:solidFill>
                <a:latin typeface="Aptos"/>
              </a:rPr>
              <a:t>A food-cost percentage can look controlled while distribution cost quietly erodes the delivered-meal margin.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507492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009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2735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9FA"/>
                </a:solidFill>
                <a:latin typeface="Aptos"/>
              </a:rPr>
              <a:t>Too many trips, weak route consolidation or avoidable distance.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07492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3009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VEHICLES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2735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9FA"/>
                </a:solidFill>
                <a:latin typeface="Aptos"/>
              </a:rPr>
              <a:t>Low load factor, idle time, fuel, maintenance and standby capacity.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507492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354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MANPOWER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50799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9FA"/>
                </a:solidFill>
                <a:latin typeface="Aptos"/>
              </a:rPr>
              <a:t>Waiting, loading, dispatch and duplicated delivery effort.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507492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354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TEMPERATURE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50799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9FA"/>
                </a:solidFill>
                <a:latin typeface="Aptos"/>
              </a:rPr>
              <a:t>Poor holding discipline can create rejection, rework and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COST LEAKAGE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distribution cost hides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474720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36393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Dispatch 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4145" y="4606232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5585" y="47708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Loading delay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074920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5239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Route duplication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4254" y="4606232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75694" y="47708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Low vehicle utilization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474720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6393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Fuel &amp; maintenance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84254" y="2343207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5694" y="250779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Temperature failure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1874520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039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Return / re-delivery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74145" y="2343207"/>
            <a:ext cx="2103120" cy="6400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5585" y="250779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Aptos"/>
              </a:rPr>
              <a:t>Delivery manpower</a:t>
            </a:r>
          </a:p>
        </p:txBody>
      </p:sp>
      <p:sp>
        <p:nvSpPr>
          <p:cNvPr id="27" name="Oval 26"/>
          <p:cNvSpPr/>
          <p:nvPr/>
        </p:nvSpPr>
        <p:spPr>
          <a:xfrm>
            <a:off x="4800600" y="2971800"/>
            <a:ext cx="2560320" cy="164592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324612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31D30"/>
                </a:solidFill>
                <a:latin typeface="Aptos"/>
              </a:rPr>
              <a:t>TRUE</a:t>
            </a:r>
            <a:br/>
            <a:r>
              <a:t>DELIVERED-MEAL</a:t>
            </a:r>
            <a:br/>
            <a:r>
              <a:t>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COST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Measure the delivered meal — not only the produced meal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Delivered Meal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304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155448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313432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Food &amp; packaging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57400"/>
            <a:ext cx="155448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2313432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Production labour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057400"/>
            <a:ext cx="155448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2313432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2057400"/>
            <a:ext cx="1554480" cy="96012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7" y="2313432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Rework /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AA430"/>
                </a:solidFill>
                <a:latin typeface="Aptos"/>
              </a:rPr>
              <a:t>Management mistake: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9FA"/>
                </a:solidFill>
                <a:latin typeface="Aptos"/>
              </a:rPr>
              <a:t>Tracking food cost precisely while treating distribution as an overhead that nobody owns.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ECAD3"/>
                </a:solidFill>
                <a:latin typeface="Aptos"/>
              </a:rPr>
              <a:t>COSTARA principle: assign distribution cost to the operating model so it becomes visible, comparable and controllable.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Illustrative route-efficiency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Use actual route, meal and vehicle data before claiming savings.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337560" cy="16002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CURRENT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9FA"/>
                </a:solidFill>
                <a:latin typeface="Aptos"/>
              </a:rPr>
              <a:t>13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ECAD3"/>
                </a:solidFill>
                <a:latin typeface="Aptos"/>
              </a:rPr>
              <a:t>AED 0.50 / meal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788920"/>
            <a:ext cx="3337560" cy="16002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971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IMPROVED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4015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9FA"/>
                </a:solidFill>
                <a:latin typeface="Aptos"/>
              </a:rPr>
              <a:t>10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22191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ECAD3"/>
                </a:solidFill>
                <a:latin typeface="Aptos"/>
              </a:rPr>
              <a:t>AED 0.36 / meal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788920"/>
            <a:ext cx="3337560" cy="16002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971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DIFFERENCE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4015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9FA"/>
                </a:solidFill>
                <a:latin typeface="Aptos"/>
              </a:rPr>
              <a:t>AED 0.14 / meal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3822191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ECAD3"/>
                </a:solidFill>
                <a:latin typeface="Aptos"/>
              </a:rPr>
              <a:t>Illustrative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920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8F9FA"/>
                </a:solidFill>
                <a:latin typeface="Aptos"/>
              </a:rPr>
              <a:t>Illustration: 15,000 meals/day × AED 0.14 = AED 2,100/day potential difference.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406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ECAD3"/>
                </a:solidFill>
                <a:latin typeface="Aptos"/>
              </a:rPr>
              <a:t>Actual opportunity depends on route feasibility, service windows, vehicle capacity, food-safety controls and operating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DISTRIBUTION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3383280" cy="11430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4963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A430"/>
                </a:solidFill>
                <a:latin typeface="Aptos"/>
              </a:rPr>
              <a:t>Cost / delivered meal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34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Aptos"/>
              </a:rPr>
              <a:t>Distribution cost ÷ delivered meals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331720"/>
            <a:ext cx="3383280" cy="11430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4963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A430"/>
                </a:solidFill>
                <a:latin typeface="Aptos"/>
              </a:rPr>
              <a:t>Meals /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34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Aptos"/>
              </a:rPr>
              <a:t>Delivered meals ÷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331720"/>
            <a:ext cx="3383280" cy="11430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4963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A430"/>
                </a:solidFill>
                <a:latin typeface="Aptos"/>
              </a:rPr>
              <a:t>Vehicle load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Aptos"/>
              </a:rPr>
              <a:t>Actual load ÷ usable capacity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3383280" cy="11430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05079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A430"/>
                </a:solidFill>
                <a:latin typeface="Aptos"/>
              </a:rPr>
              <a:t>On-time delivery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Aptos"/>
              </a:rPr>
              <a:t>Deliveries within service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86200"/>
            <a:ext cx="3383280" cy="11430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05079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A430"/>
                </a:solidFill>
                <a:latin typeface="Aptos"/>
              </a:rPr>
              <a:t>Km / 1,000 meals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Aptos"/>
              </a:rPr>
              <a:t>Distance intensity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383280" cy="11430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5079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A430"/>
                </a:solidFill>
                <a:latin typeface="Aptos"/>
              </a:rPr>
              <a:t>Re-delivery / rejection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Aptos"/>
              </a:rPr>
              <a:t>Failure cost and service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FROM DATA TO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distribution-control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2011680" cy="2057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2724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767328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CAD3"/>
                </a:solidFill>
                <a:latin typeface="Aptos"/>
              </a:rPr>
              <a:t>Routes, windows,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2514600"/>
            <a:ext cx="2011680" cy="2057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724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799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767328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CAD3"/>
                </a:solidFill>
                <a:latin typeface="Aptos"/>
              </a:rPr>
              <a:t>Fuel, vehicle, labour,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2514600"/>
            <a:ext cx="2011680" cy="2057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9592" y="2724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3767328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CAD3"/>
                </a:solidFill>
                <a:latin typeface="Aptos"/>
              </a:rPr>
              <a:t>Cost/meal by route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514600"/>
            <a:ext cx="2011680" cy="2057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2724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REDESIGN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3767328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CAD3"/>
                </a:solidFill>
                <a:latin typeface="Aptos"/>
              </a:rPr>
              <a:t>Consolidate without service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514600"/>
            <a:ext cx="2011680" cy="2057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43032" y="2724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3767328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CAD3"/>
                </a:solidFill>
                <a:latin typeface="Aptos"/>
              </a:rPr>
              <a:t>KPI review &amp; exceptions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9FA"/>
                </a:solidFill>
                <a:latin typeface="Aptos"/>
              </a:rPr>
              <a:t>Control objective: lower avoidable distribution cost without compromising food safety, delivery time or service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MANAGEMENT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know distribution cost per delivered meal — by route?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6148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routes consistently operate below practical vehicle capacity?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741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7413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How much paid time is lost in loading, waiting and re-delivery?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86784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Are service windows driving unnecessary trips that could be redesigned?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9943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9943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Do temperature failures create measurable rework or rejection cost?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1208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Who owns distribution productivity as a KPI?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74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55680" cy="18288"/>
          </a:xfrm>
          <a:prstGeom prst="rect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08 • COSTARA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73952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AD3"/>
                </a:solidFill>
                <a:latin typeface="Aptos"/>
              </a:rPr>
              <a:t>Operational insight • measurable control • stronger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AA430"/>
                </a:solidFill>
                <a:latin typeface="Aptos"/>
              </a:rPr>
              <a:t>FOOD COST IS ONLY PART OF THE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9966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9FA"/>
                </a:solidFill>
                <a:latin typeface="Aptos"/>
              </a:rPr>
              <a:t>The meal is not commercially complete when production ends.</a:t>
            </a:r>
            <a:br/>
            <a:r>
              <a:t>It is complete when it reaches the service point safely, on time and at a controlled delivered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492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01 • Hidden Cost of Catering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