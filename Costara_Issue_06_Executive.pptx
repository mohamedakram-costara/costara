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107899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8F9FA"/>
                </a:solidFill>
                <a:latin typeface="Aptos"/>
              </a:rPr>
              <a:t>INVENTORY: STOCK OR CASH?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7432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AA430"/>
                </a:solidFill>
                <a:latin typeface="Aptos"/>
              </a:rPr>
              <a:t>Turning stores into working-capital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ECAD3"/>
                </a:solidFill>
                <a:latin typeface="Aptos"/>
              </a:rPr>
              <a:t>Executive operational cost-intelligence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01 •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The operational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40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ECAD3"/>
                </a:solidFill>
                <a:latin typeface="Aptos"/>
              </a:rPr>
              <a:t>Small operational variances become significant when repeated across high-volume catering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Excess stock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06324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33756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Slow moving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Expiry exposure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251960"/>
            <a:ext cx="4983480" cy="9144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4526280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8F9FA"/>
                </a:solidFill>
                <a:latin typeface="Aptos"/>
              </a:rPr>
              <a:t>Issue-control gaps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02 • LEAKAGE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Where the cost hides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Excess stock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3256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4696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Slow moving 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501091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517550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Expiry exposure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08023" y="4555615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99463" y="4720207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Issue-control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56432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2102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Process discipline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08023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99463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Data visibility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1901951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9" y="2066543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Ownership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33256" y="2357248"/>
            <a:ext cx="1920240" cy="585216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4696" y="25218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8F9FA"/>
                </a:solidFill>
                <a:latin typeface="Aptos"/>
              </a:rPr>
              <a:t>Corrective action</a:t>
            </a:r>
          </a:p>
        </p:txBody>
      </p:sp>
      <p:sp>
        <p:nvSpPr>
          <p:cNvPr id="25" name="Oval 24"/>
          <p:cNvSpPr/>
          <p:nvPr/>
        </p:nvSpPr>
        <p:spPr>
          <a:xfrm>
            <a:off x="4800600" y="2971800"/>
            <a:ext cx="2560320" cy="1554480"/>
          </a:xfrm>
          <a:prstGeom prst="ellipse">
            <a:avLst/>
          </a:prstGeom>
          <a:solidFill>
            <a:srgbClr val="DAA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246120"/>
            <a:ext cx="2148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31D30"/>
                </a:solidFill>
                <a:latin typeface="Aptos"/>
              </a:rPr>
              <a:t>VISIBLE</a:t>
            </a:r>
            <a:br/>
            <a:r>
              <a:t>COST</a:t>
            </a:r>
            <a:br/>
            <a:r>
              <a:t>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03 • MAKE THE VARIANCE MEASURABLE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Financial 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ECAD3"/>
                </a:solidFill>
                <a:latin typeface="Aptos"/>
              </a:rPr>
              <a:t>Translate the operational variance into a unit cost, frequency and volume before proposing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UNIT 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3432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9503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9503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DAILY VOLUME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7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79" y="3273552"/>
            <a:ext cx="411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=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88352" y="2971800"/>
            <a:ext cx="1508760" cy="100584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88352" y="327355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AA430"/>
                </a:solidFill>
                <a:latin typeface="Aptos"/>
              </a:rPr>
              <a:t>FINANCIAL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709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8F9FA"/>
                </a:solidFill>
                <a:latin typeface="Aptos"/>
              </a:rPr>
              <a:t>Inventory is cash held in another form; visibility determines whether it supports or burdens the operation.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ECAD3"/>
                </a:solidFill>
                <a:latin typeface="Aptos"/>
              </a:rPr>
              <a:t>Use actual operating data before presenting any saving as achievable or guaranteed.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04 • KPI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What management should measure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Stock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Inventory value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31720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67919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Slow-moving value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Expiry / write-off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Issue variance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3840479"/>
            <a:ext cx="3383280" cy="109728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187951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9FA"/>
                </a:solidFill>
                <a:latin typeface="Aptos"/>
              </a:rPr>
              <a:t>Stock accuracy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05 • FROM OBSERVATION TO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COSTARA control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CLASSIFY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5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799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5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REDUCE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560320"/>
            <a:ext cx="2011680" cy="1828800"/>
          </a:xfrm>
          <a:prstGeom prst="roundRect">
            <a:avLst/>
          </a:prstGeom>
          <a:solidFill>
            <a:srgbClr val="082B43"/>
          </a:solidFill>
          <a:ln>
            <a:solidFill>
              <a:srgbClr val="DAA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61320" y="27889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>
                <a:solidFill>
                  <a:srgbClr val="DAA430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34290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9FA"/>
                </a:solidFill>
                <a:latin typeface="Aptos"/>
              </a:rPr>
              <a:t>SUSTAIN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ECAD3"/>
                </a:solidFill>
                <a:latin typeface="Aptos"/>
              </a:rPr>
              <a:t>Control objective: improve cost visibility without compromising food safety, service quality or operational continuity.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06 • MANAGEMENT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Executive questions to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10312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Do we measure stock days consistently?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24912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72491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Which operation or item creates the highest recurring variance?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46704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34670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Is the variance caused by specification, process, people, supplier or demand?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68496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68496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Can the cost be assigned to an accountable owner?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90288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59028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9FA"/>
                </a:solidFill>
                <a:latin typeface="Aptos"/>
              </a:rPr>
              <a:t>What control would prevent recurrence rather than only explain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120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AA430"/>
                </a:solidFill>
                <a:latin typeface="Aptos"/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8F9FA"/>
                </a:solidFill>
                <a:latin typeface="Aptos"/>
              </a:rPr>
              <a:t>How will management verify that the corrective action actually worked?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DAA430"/>
                </a:solidFill>
                <a:latin typeface="Aptos"/>
              </a:rPr>
              <a:t>COSTARA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ECAD3"/>
                </a:solidFill>
                <a:latin typeface="Aptos"/>
              </a:rPr>
              <a:t>CATERING COST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0" y="2743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DAA430"/>
                </a:solidFill>
                <a:latin typeface="Aptos"/>
              </a:rPr>
              <a:t>ISSUE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AA430"/>
                </a:solidFill>
                <a:latin typeface="Aptos"/>
              </a:rPr>
              <a:t>07 • COSTARA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41732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8F9FA"/>
                </a:solidFill>
                <a:latin typeface="Aptos"/>
              </a:rPr>
              <a:t>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ECAD3"/>
                </a:solidFill>
                <a:latin typeface="Aptos"/>
              </a:rPr>
              <a:t>COSTARA • BEYOND FOOD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DAA430"/>
                </a:solidFill>
                <a:latin typeface="Aptos"/>
              </a:rPr>
              <a:t>INVENTORY: STOCK OR CASH?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1546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8F9FA"/>
                </a:solidFill>
                <a:latin typeface="Aptos"/>
              </a:rPr>
              <a:t>Inventory is cash held in another form; visibility determines whether it supports or burdens the operation.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ECAD3"/>
                </a:solidFill>
                <a:latin typeface="Aptos"/>
              </a:rPr>
              <a:t>COSTARA turns operational activity into measurable cost intelligence.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34924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AA430"/>
                </a:solidFill>
                <a:latin typeface="Aptos"/>
              </a:rPr>
              <a:t>Issue 06 • Executive Cost 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